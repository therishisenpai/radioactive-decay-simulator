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  <a:srgbClr val="0B1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06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5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5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75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95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7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9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1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23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85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61F36-A72D-457D-8D5D-B941F520F9CC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AE313-BBF7-4964-A015-2175300EC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3351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500F204A-3833-E897-BF4F-1E2D2DA87409}"/>
              </a:ext>
            </a:extLst>
          </p:cNvPr>
          <p:cNvSpPr/>
          <p:nvPr/>
        </p:nvSpPr>
        <p:spPr>
          <a:xfrm>
            <a:off x="609585" y="6261100"/>
            <a:ext cx="10870928" cy="381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A3734C1-71B4-3197-5FAB-BE2045A6BFA0}"/>
              </a:ext>
            </a:extLst>
          </p:cNvPr>
          <p:cNvSpPr/>
          <p:nvPr/>
        </p:nvSpPr>
        <p:spPr>
          <a:xfrm>
            <a:off x="609585" y="609600"/>
            <a:ext cx="38099" cy="56896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EBA7F39-B75E-CA6F-8B21-D28EC837B182}"/>
              </a:ext>
            </a:extLst>
          </p:cNvPr>
          <p:cNvSpPr/>
          <p:nvPr/>
        </p:nvSpPr>
        <p:spPr>
          <a:xfrm>
            <a:off x="977876" y="609600"/>
            <a:ext cx="10502636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2000" kern="0" spc="4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PBL-3 MTE · Rishi Bhardwaj · 2427030397</a:t>
            </a:r>
            <a:endParaRPr lang="en-US" sz="2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C2C62B6-F00E-7FD8-BE55-E92FCF4922BD}"/>
              </a:ext>
            </a:extLst>
          </p:cNvPr>
          <p:cNvSpPr/>
          <p:nvPr/>
        </p:nvSpPr>
        <p:spPr>
          <a:xfrm>
            <a:off x="977876" y="2603500"/>
            <a:ext cx="1050263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5200" kern="0" spc="-104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Numerical Simulation and Visualization of Radioactive Decay Chains</a:t>
            </a:r>
            <a:endParaRPr lang="en-US" sz="52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A00A30D-6964-B955-C3FC-D05472F69560}"/>
              </a:ext>
            </a:extLst>
          </p:cNvPr>
          <p:cNvSpPr/>
          <p:nvPr/>
        </p:nvSpPr>
        <p:spPr>
          <a:xfrm>
            <a:off x="977876" y="4991847"/>
            <a:ext cx="10502636" cy="116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2000" dirty="0"/>
              <a:t>Guided by:</a:t>
            </a:r>
          </a:p>
          <a:p>
            <a:pPr algn="ctr"/>
            <a:r>
              <a:rPr lang="en-US" sz="2000" dirty="0"/>
              <a:t>Dr. Jay Prakash Singh</a:t>
            </a:r>
          </a:p>
          <a:p>
            <a:pPr algn="ctr"/>
            <a:r>
              <a:rPr lang="en-IN" sz="2000" dirty="0"/>
              <a:t>Assistant Professor (Senior Scale)</a:t>
            </a:r>
          </a:p>
          <a:p>
            <a:pPr algn="ctr"/>
            <a:r>
              <a:rPr lang="en-IN" sz="2000" dirty="0"/>
              <a:t>Dept. of CSE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3201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8DB713-B8B1-909A-FFFC-482E77E2140A}"/>
              </a:ext>
            </a:extLst>
          </p:cNvPr>
          <p:cNvSpPr/>
          <p:nvPr/>
        </p:nvSpPr>
        <p:spPr>
          <a:xfrm>
            <a:off x="609585" y="6261100"/>
            <a:ext cx="10870928" cy="381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DC81F4-45C7-E42A-5BB4-80537EF85D27}"/>
              </a:ext>
            </a:extLst>
          </p:cNvPr>
          <p:cNvSpPr/>
          <p:nvPr/>
        </p:nvSpPr>
        <p:spPr>
          <a:xfrm>
            <a:off x="609585" y="609600"/>
            <a:ext cx="38099" cy="56896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5DFFB4-02DB-34CE-5168-6620F4069485}"/>
              </a:ext>
            </a:extLst>
          </p:cNvPr>
          <p:cNvSpPr/>
          <p:nvPr/>
        </p:nvSpPr>
        <p:spPr>
          <a:xfrm>
            <a:off x="977875" y="1666128"/>
            <a:ext cx="10502637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u="sng" kern="0" spc="-104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Introduction</a:t>
            </a:r>
            <a:endParaRPr lang="en-US" sz="5200" u="sng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5177D8-150D-3B18-A736-593C59D7D648}"/>
              </a:ext>
            </a:extLst>
          </p:cNvPr>
          <p:cNvSpPr/>
          <p:nvPr/>
        </p:nvSpPr>
        <p:spPr>
          <a:xfrm>
            <a:off x="977876" y="2605928"/>
            <a:ext cx="10502637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Radioactive decay is a random, exponential process in which unstable nuclei transform into other nuclides over time. Simulating it numerically lets us visualize population behaviour without analytical solutions for complex chains.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67EDFA-D308-C23F-7B9D-C534EFA28864}"/>
              </a:ext>
            </a:extLst>
          </p:cNvPr>
          <p:cNvSpPr/>
          <p:nvPr/>
        </p:nvSpPr>
        <p:spPr>
          <a:xfrm>
            <a:off x="977876" y="5346700"/>
            <a:ext cx="1050263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PBL-3 MTE · A computational tool for modelling and visualizing decay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85881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93CB8D-3D5C-0496-E863-1375569C93BF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Problem Statement</a:t>
            </a:r>
            <a:endParaRPr lang="en-US" sz="3600" u="sng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7C398E-A2E6-E79D-C00C-91108296353A}"/>
              </a:ext>
            </a:extLst>
          </p:cNvPr>
          <p:cNvSpPr/>
          <p:nvPr/>
        </p:nvSpPr>
        <p:spPr>
          <a:xfrm>
            <a:off x="711182" y="2157413"/>
            <a:ext cx="568945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DIFFICULTY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EDE53A-E13D-4487-EC79-A562C51899B3}"/>
              </a:ext>
            </a:extLst>
          </p:cNvPr>
          <p:cNvSpPr/>
          <p:nvPr/>
        </p:nvSpPr>
        <p:spPr>
          <a:xfrm>
            <a:off x="711182" y="2668588"/>
            <a:ext cx="5079873" cy="17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Analytical solutions become difficult to derive and interpret as the number of coupled isotopes in a decay chain increases.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EFF37D-AE26-3B60-0B22-26DAC8052699}"/>
              </a:ext>
            </a:extLst>
          </p:cNvPr>
          <p:cNvSpPr/>
          <p:nvPr/>
        </p:nvSpPr>
        <p:spPr>
          <a:xfrm>
            <a:off x="6400640" y="2157413"/>
            <a:ext cx="5689458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APPROACH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44C4A2-3E3E-FBED-0605-CFDBD8DF7DC5}"/>
              </a:ext>
            </a:extLst>
          </p:cNvPr>
          <p:cNvSpPr/>
          <p:nvPr/>
        </p:nvSpPr>
        <p:spPr>
          <a:xfrm>
            <a:off x="6400640" y="2668588"/>
            <a:ext cx="5079873" cy="17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flexible numerical method can compute and visualize population changes over time for a single isotope and, eventually, for many.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A1292C-F61D-4C3F-4993-95C8C4ED0296}"/>
              </a:ext>
            </a:extLst>
          </p:cNvPr>
          <p:cNvSpPr/>
          <p:nvPr/>
        </p:nvSpPr>
        <p:spPr>
          <a:xfrm>
            <a:off x="711182" y="5403850"/>
            <a:ext cx="10769331" cy="74295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Current stage: single-isotope simulation working · multi-isotope chain propagation planned next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6DC8E9-528F-7E91-AF1C-F6B1D34E5F25}"/>
              </a:ext>
            </a:extLst>
          </p:cNvPr>
          <p:cNvSpPr/>
          <p:nvPr/>
        </p:nvSpPr>
        <p:spPr>
          <a:xfrm>
            <a:off x="6089498" y="2157413"/>
            <a:ext cx="12700" cy="2293938"/>
          </a:xfrm>
          <a:prstGeom prst="rect">
            <a:avLst/>
          </a:prstGeom>
          <a:solidFill>
            <a:srgbClr val="B4C4D3"/>
          </a:solidFill>
          <a:ln/>
        </p:spPr>
      </p:sp>
    </p:spTree>
    <p:extLst>
      <p:ext uri="{BB962C8B-B14F-4D97-AF65-F5344CB8AC3E}">
        <p14:creationId xmlns:p14="http://schemas.microsoft.com/office/powerpoint/2010/main" val="21400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A16E71-7C60-61DF-A1C8-1DFD1164A104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solidFill>
                  <a:srgbClr val="F5F7FA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Objectives</a:t>
            </a:r>
            <a:endParaRPr lang="en-US" sz="3600" u="sng" dirty="0">
              <a:solidFill>
                <a:srgbClr val="F5F7FA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5E0A92-EEDE-DBA6-9684-539985F1490E}"/>
              </a:ext>
            </a:extLst>
          </p:cNvPr>
          <p:cNvSpPr/>
          <p:nvPr/>
        </p:nvSpPr>
        <p:spPr>
          <a:xfrm>
            <a:off x="711182" y="1548309"/>
            <a:ext cx="96825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dirty="0">
                <a:solidFill>
                  <a:srgbClr val="D9471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789C0E-8468-1E27-7DC0-26527B04302B}"/>
              </a:ext>
            </a:extLst>
          </p:cNvPr>
          <p:cNvSpPr/>
          <p:nvPr/>
        </p:nvSpPr>
        <p:spPr>
          <a:xfrm>
            <a:off x="1400041" y="1535113"/>
            <a:ext cx="4619609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Implement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3062B4-EE2C-4D9A-3522-F08C65BD9957}"/>
              </a:ext>
            </a:extLst>
          </p:cNvPr>
          <p:cNvSpPr/>
          <p:nvPr/>
        </p:nvSpPr>
        <p:spPr>
          <a:xfrm>
            <a:off x="1400041" y="2185988"/>
            <a:ext cx="4619609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Implement a numerical simulation of single-isotope radioactive decay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0FD94B-983B-C474-DC51-72392F48090A}"/>
              </a:ext>
            </a:extLst>
          </p:cNvPr>
          <p:cNvSpPr/>
          <p:nvPr/>
        </p:nvSpPr>
        <p:spPr>
          <a:xfrm>
            <a:off x="6172046" y="1548309"/>
            <a:ext cx="101408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dirty="0">
                <a:solidFill>
                  <a:srgbClr val="D9471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7B19A4-53FC-F542-102A-D4B0A3F3F85C}"/>
              </a:ext>
            </a:extLst>
          </p:cNvPr>
          <p:cNvSpPr/>
          <p:nvPr/>
        </p:nvSpPr>
        <p:spPr>
          <a:xfrm>
            <a:off x="6906742" y="1535113"/>
            <a:ext cx="4573771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Visualize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04FB49C-14A0-E608-F81A-564B94F7F51D}"/>
              </a:ext>
            </a:extLst>
          </p:cNvPr>
          <p:cNvSpPr/>
          <p:nvPr/>
        </p:nvSpPr>
        <p:spPr>
          <a:xfrm>
            <a:off x="6906742" y="2185988"/>
            <a:ext cx="4573771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Visualize the decay curve of nuclei population over time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D85245C-5D40-F6AF-11B5-C94B89C767D1}"/>
              </a:ext>
            </a:extLst>
          </p:cNvPr>
          <p:cNvSpPr/>
          <p:nvPr/>
        </p:nvSpPr>
        <p:spPr>
          <a:xfrm>
            <a:off x="711182" y="3688655"/>
            <a:ext cx="102172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dirty="0">
                <a:solidFill>
                  <a:srgbClr val="D9471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F050679-5BD6-E58E-C2E5-4C3B53993D13}"/>
              </a:ext>
            </a:extLst>
          </p:cNvPr>
          <p:cNvSpPr/>
          <p:nvPr/>
        </p:nvSpPr>
        <p:spPr>
          <a:xfrm>
            <a:off x="1453518" y="3675459"/>
            <a:ext cx="4566131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Establish</a:t>
            </a:r>
            <a:endParaRPr lang="en-US" sz="2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19080E-DA35-2155-3062-C16DD8660FC1}"/>
              </a:ext>
            </a:extLst>
          </p:cNvPr>
          <p:cNvSpPr/>
          <p:nvPr/>
        </p:nvSpPr>
        <p:spPr>
          <a:xfrm>
            <a:off x="1453518" y="4326334"/>
            <a:ext cx="4566131" cy="17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Establish a configurable framework (half-life, initial population, time range) for future extension</a:t>
            </a: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654B074-7576-14B9-8398-C7875D92671B}"/>
              </a:ext>
            </a:extLst>
          </p:cNvPr>
          <p:cNvSpPr/>
          <p:nvPr/>
        </p:nvSpPr>
        <p:spPr>
          <a:xfrm>
            <a:off x="6172046" y="3688655"/>
            <a:ext cx="103125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600" dirty="0">
                <a:solidFill>
                  <a:srgbClr val="D9471A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2582B9-DA3E-50B3-6495-D8450B1A095E}"/>
              </a:ext>
            </a:extLst>
          </p:cNvPr>
          <p:cNvSpPr/>
          <p:nvPr/>
        </p:nvSpPr>
        <p:spPr>
          <a:xfrm>
            <a:off x="6923906" y="3675459"/>
            <a:ext cx="4556606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Extend</a:t>
            </a:r>
            <a:endParaRPr lang="en-US" sz="2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C5B6F57-DB38-F7AB-A53B-021F7006EDC0}"/>
              </a:ext>
            </a:extLst>
          </p:cNvPr>
          <p:cNvSpPr/>
          <p:nvPr/>
        </p:nvSpPr>
        <p:spPr>
          <a:xfrm>
            <a:off x="6923906" y="4326334"/>
            <a:ext cx="4556606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Extend the model to multi-isotope decay chains in the next implementation stage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8691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CEA02F-2B95-BD14-336F-B81860932571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Mathematical Model</a:t>
            </a:r>
            <a:endParaRPr lang="en-US" sz="3600" u="sng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B4627A-90C3-9F17-C10C-DD278B1684EC}"/>
              </a:ext>
            </a:extLst>
          </p:cNvPr>
          <p:cNvSpPr/>
          <p:nvPr/>
        </p:nvSpPr>
        <p:spPr>
          <a:xfrm>
            <a:off x="711182" y="1535113"/>
            <a:ext cx="11378915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Radioactive decay follows a first-order exponential law.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7343DB4-4466-5F9E-8B4F-DFBC2A80C865}"/>
              </a:ext>
            </a:extLst>
          </p:cNvPr>
          <p:cNvSpPr/>
          <p:nvPr/>
        </p:nvSpPr>
        <p:spPr>
          <a:xfrm>
            <a:off x="711182" y="4474071"/>
            <a:ext cx="444657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Decay constant:</a:t>
            </a:r>
            <a:endParaRPr lang="en-US" sz="2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4590E00-8245-41D2-FF21-CB1B02E85E01}"/>
              </a:ext>
            </a:extLst>
          </p:cNvPr>
          <p:cNvSpPr/>
          <p:nvPr/>
        </p:nvSpPr>
        <p:spPr>
          <a:xfrm>
            <a:off x="711182" y="5721449"/>
            <a:ext cx="11378915" cy="425450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N₀ initial number of nuclei · T½ half-life · t time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A839C8-DB6D-0F76-0773-B74091C5737E}"/>
              </a:ext>
            </a:extLst>
          </p:cNvPr>
          <p:cNvSpPr txBox="1"/>
          <p:nvPr/>
        </p:nvSpPr>
        <p:spPr>
          <a:xfrm>
            <a:off x="2934469" y="2373025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N(t) = N</a:t>
            </a:r>
            <a:r>
              <a:rPr lang="en-US" sz="7200" baseline="-25000" dirty="0"/>
              <a:t>0</a:t>
            </a:r>
            <a:r>
              <a:rPr lang="en-US" sz="7200" dirty="0"/>
              <a:t>e</a:t>
            </a:r>
            <a:r>
              <a:rPr lang="en-US" sz="7200" baseline="30000" dirty="0"/>
              <a:t>-</a:t>
            </a:r>
            <a:r>
              <a:rPr lang="el-GR" sz="7200" baseline="30000" dirty="0"/>
              <a:t>λ</a:t>
            </a:r>
            <a:r>
              <a:rPr lang="en-US" sz="7200" baseline="30000" dirty="0"/>
              <a:t>t</a:t>
            </a:r>
            <a:endParaRPr lang="en-IN" sz="7200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A8E981-6BDE-6F15-C6FB-CBF6090E0700}"/>
                  </a:ext>
                </a:extLst>
              </p:cNvPr>
              <p:cNvSpPr txBox="1"/>
              <p:nvPr/>
            </p:nvSpPr>
            <p:spPr>
              <a:xfrm>
                <a:off x="2752675" y="4010977"/>
                <a:ext cx="2052407" cy="1272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4800" dirty="0"/>
                  <a:t>λ</a:t>
                </a:r>
                <a:r>
                  <a:rPr lang="en-US" sz="4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8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4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num>
                      <m:den>
                        <m:r>
                          <m:rPr>
                            <m:nor/>
                          </m:rPr>
                          <a:rPr lang="en-IN" sz="4800"/>
                          <m:t>T</m:t>
                        </m:r>
                        <m:r>
                          <m:rPr>
                            <m:nor/>
                          </m:rPr>
                          <a:rPr lang="en-IN" sz="4800" baseline="-25000"/>
                          <m:t>1/2​</m:t>
                        </m:r>
                      </m:den>
                    </m:f>
                  </m:oMath>
                </a14:m>
                <a:endParaRPr lang="en-IN" sz="4800" baseline="30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A8E981-6BDE-6F15-C6FB-CBF6090E0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675" y="4010977"/>
                <a:ext cx="2052407" cy="1272849"/>
              </a:xfrm>
              <a:prstGeom prst="rect">
                <a:avLst/>
              </a:prstGeom>
              <a:blipFill>
                <a:blip r:embed="rId2"/>
                <a:stretch>
                  <a:fillRect l="-13690" b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83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EFB792-7142-9EA5-4970-D332102CF0C9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Methodology</a:t>
            </a:r>
            <a:endParaRPr lang="en-US" sz="3600" u="sng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9672C6-3362-FF6C-D1B3-3AB8AD9E5F64}"/>
              </a:ext>
            </a:extLst>
          </p:cNvPr>
          <p:cNvSpPr/>
          <p:nvPr/>
        </p:nvSpPr>
        <p:spPr>
          <a:xfrm>
            <a:off x="711182" y="1774428"/>
            <a:ext cx="321858" cy="321866"/>
          </a:xfrm>
          <a:prstGeom prst="ellipse">
            <a:avLst/>
          </a:prstGeom>
          <a:solidFill>
            <a:srgbClr val="D9471A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A80A3E-2D16-C193-8C2D-AF3FFB29B089}"/>
              </a:ext>
            </a:extLst>
          </p:cNvPr>
          <p:cNvSpPr/>
          <p:nvPr/>
        </p:nvSpPr>
        <p:spPr>
          <a:xfrm>
            <a:off x="829746" y="1842492"/>
            <a:ext cx="6943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ACECD5-2B63-2990-3900-A1DCAD156940}"/>
              </a:ext>
            </a:extLst>
          </p:cNvPr>
          <p:cNvSpPr/>
          <p:nvPr/>
        </p:nvSpPr>
        <p:spPr>
          <a:xfrm>
            <a:off x="1185436" y="1664692"/>
            <a:ext cx="10295077" cy="896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Define the initial population N</a:t>
            </a:r>
            <a:r>
              <a:rPr lang="en-US" sz="2600" baseline="-250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</a:t>
            </a: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and the half-life T</a:t>
            </a:r>
            <a:r>
              <a:rPr lang="en-US" sz="2600" baseline="-250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1/2</a:t>
            </a: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as configurable parameters.</a:t>
            </a:r>
            <a:endParaRPr lang="en-US" sz="2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4E19449-B281-33F6-C555-A0B1F68D8076}"/>
              </a:ext>
            </a:extLst>
          </p:cNvPr>
          <p:cNvSpPr/>
          <p:nvPr/>
        </p:nvSpPr>
        <p:spPr>
          <a:xfrm>
            <a:off x="711182" y="2823170"/>
            <a:ext cx="321858" cy="321866"/>
          </a:xfrm>
          <a:prstGeom prst="ellipse">
            <a:avLst/>
          </a:prstGeom>
          <a:solidFill>
            <a:srgbClr val="D9471A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E78D6A5-72E0-6AA4-E9B6-F570371745D4}"/>
              </a:ext>
            </a:extLst>
          </p:cNvPr>
          <p:cNvSpPr/>
          <p:nvPr/>
        </p:nvSpPr>
        <p:spPr>
          <a:xfrm>
            <a:off x="816947" y="2891234"/>
            <a:ext cx="71981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2</a:t>
            </a:r>
            <a:endParaRPr lang="en-US" sz="14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A085BEBE-65D5-792B-5FB3-3208CC3D8487}"/>
                  </a:ext>
                </a:extLst>
              </p:cNvPr>
              <p:cNvSpPr/>
              <p:nvPr/>
            </p:nvSpPr>
            <p:spPr>
              <a:xfrm>
                <a:off x="1185436" y="2569566"/>
                <a:ext cx="10904662" cy="8687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ct val="112000"/>
                  </a:lnSpc>
                </a:pPr>
                <a:r>
                  <a:rPr lang="en-US" sz="2600" dirty="0">
                    <a:latin typeface="Atkinson Hyperlegible Next" pitchFamily="34" charset="0"/>
                    <a:ea typeface="Atkinson Hyperlegible Next" pitchFamily="34" charset="-122"/>
                    <a:cs typeface="Atkinson Hyperlegible Next" pitchFamily="34" charset="-120"/>
                  </a:rPr>
                  <a:t>Compute the decay constant </a:t>
                </a:r>
                <a:r>
                  <a:rPr lang="el-GR" sz="2800" dirty="0"/>
                  <a:t>λ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num>
                      <m:den>
                        <m:r>
                          <m:rPr>
                            <m:nor/>
                          </m:rPr>
                          <a:rPr lang="en-IN" sz="2800"/>
                          <m:t>T</m:t>
                        </m:r>
                        <m:r>
                          <m:rPr>
                            <m:nor/>
                          </m:rPr>
                          <a:rPr lang="en-IN" sz="2800" baseline="-25000"/>
                          <m:t>1/2​</m:t>
                        </m:r>
                      </m:den>
                    </m:f>
                  </m:oMath>
                </a14:m>
                <a:r>
                  <a:rPr lang="en-US" sz="2600" dirty="0">
                    <a:latin typeface="Atkinson Hyperlegible Next" pitchFamily="34" charset="0"/>
                    <a:ea typeface="Atkinson Hyperlegible Next" pitchFamily="34" charset="-122"/>
                    <a:cs typeface="Atkinson Hyperlegible Next" pitchFamily="34" charset="-120"/>
                  </a:rPr>
                  <a:t>.</a:t>
                </a:r>
                <a:endParaRPr lang="en-US" sz="2600" dirty="0"/>
              </a:p>
            </p:txBody>
          </p:sp>
        </mc:Choice>
        <mc:Fallback xmlns="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A085BEBE-65D5-792B-5FB3-3208CC3D8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436" y="2569566"/>
                <a:ext cx="10904662" cy="868760"/>
              </a:xfrm>
              <a:prstGeom prst="rect">
                <a:avLst/>
              </a:prstGeom>
              <a:blipFill>
                <a:blip r:embed="rId2"/>
                <a:stretch>
                  <a:fillRect l="-1845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7">
            <a:extLst>
              <a:ext uri="{FF2B5EF4-FFF2-40B4-BE49-F238E27FC236}">
                <a16:creationId xmlns:a16="http://schemas.microsoft.com/office/drawing/2014/main" id="{8CBA6872-4048-DA15-1A7C-B275B7EA49EF}"/>
              </a:ext>
            </a:extLst>
          </p:cNvPr>
          <p:cNvSpPr/>
          <p:nvPr/>
        </p:nvSpPr>
        <p:spPr>
          <a:xfrm>
            <a:off x="711182" y="3426222"/>
            <a:ext cx="321858" cy="321866"/>
          </a:xfrm>
          <a:prstGeom prst="ellipse">
            <a:avLst/>
          </a:prstGeom>
          <a:solidFill>
            <a:srgbClr val="D9471A"/>
          </a:solidFill>
          <a:ln/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24AFF10-579F-75BB-2F4C-350EA26408CB}"/>
              </a:ext>
            </a:extLst>
          </p:cNvPr>
          <p:cNvSpPr/>
          <p:nvPr/>
        </p:nvSpPr>
        <p:spPr>
          <a:xfrm>
            <a:off x="815359" y="3494286"/>
            <a:ext cx="7230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1CFBED0-0A6B-3773-46B9-0EB8F017C79F}"/>
              </a:ext>
            </a:extLst>
          </p:cNvPr>
          <p:cNvSpPr/>
          <p:nvPr/>
        </p:nvSpPr>
        <p:spPr>
          <a:xfrm>
            <a:off x="1185436" y="3400822"/>
            <a:ext cx="10295077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Evaluate N(t) over a discrete time range using NumPy array operations.</a:t>
            </a:r>
            <a:endParaRPr lang="en-US" sz="2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B38D5495-1482-287F-601E-F5DD2099DA74}"/>
              </a:ext>
            </a:extLst>
          </p:cNvPr>
          <p:cNvSpPr/>
          <p:nvPr/>
        </p:nvSpPr>
        <p:spPr>
          <a:xfrm>
            <a:off x="711182" y="4209256"/>
            <a:ext cx="321858" cy="321866"/>
          </a:xfrm>
          <a:prstGeom prst="ellipse">
            <a:avLst/>
          </a:prstGeom>
          <a:solidFill>
            <a:srgbClr val="D9471A"/>
          </a:solidFill>
          <a:ln/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45ED349-7D23-3D11-6545-5671742A8BFB}"/>
              </a:ext>
            </a:extLst>
          </p:cNvPr>
          <p:cNvSpPr/>
          <p:nvPr/>
        </p:nvSpPr>
        <p:spPr>
          <a:xfrm>
            <a:off x="813772" y="4277320"/>
            <a:ext cx="7262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0F79BD6-38A1-9DCC-AD49-E9F458188E0E}"/>
              </a:ext>
            </a:extLst>
          </p:cNvPr>
          <p:cNvSpPr/>
          <p:nvPr/>
        </p:nvSpPr>
        <p:spPr>
          <a:xfrm>
            <a:off x="1185436" y="4099520"/>
            <a:ext cx="10295077" cy="896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Plot </a:t>
            </a:r>
            <a:r>
              <a:rPr lang="en-US" sz="2600" i="1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N(t) </a:t>
            </a: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against t with Matplotlib and export the figure as an image file.</a:t>
            </a:r>
            <a:endParaRPr lang="en-US" sz="2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CF87C9C3-ABD9-30A2-DA88-3A7FDE02950C}"/>
              </a:ext>
            </a:extLst>
          </p:cNvPr>
          <p:cNvSpPr/>
          <p:nvPr/>
        </p:nvSpPr>
        <p:spPr>
          <a:xfrm>
            <a:off x="711182" y="5721350"/>
            <a:ext cx="11378915" cy="425450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Four steps · parameters in, figure out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895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BC3D14-7E36-BB8B-72E6-4A83B5959CC0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Current Implementation</a:t>
            </a:r>
            <a:endParaRPr lang="en-US" sz="3600" u="sng" dirty="0"/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A49F9E05-4CF2-1D26-7098-86CCE9E5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50711"/>
              </p:ext>
            </p:extLst>
          </p:nvPr>
        </p:nvGraphicFramePr>
        <p:xfrm>
          <a:off x="711182" y="1535113"/>
          <a:ext cx="10769331" cy="3731326"/>
        </p:xfrm>
        <a:graphic>
          <a:graphicData uri="http://schemas.openxmlformats.org/drawingml/2006/table">
            <a:tbl>
              <a:tblPr/>
              <a:tblGrid>
                <a:gridCol w="468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Parameter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Value in this run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Language and libraries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Python · NumPy · Matplotlib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Initial population N_{0}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1,000,000 nuclei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Half-life T_{1/2}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10 arbitrary time units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Time domain t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0 to 50 arbitrary time units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0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Output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i="1" dirty="0">
                          <a:solidFill>
                            <a:schemeClr val="tx1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decay_curve.png</a:t>
                      </a:r>
                      <a:endParaRPr lang="en-US" sz="2600" dirty="0">
                        <a:solidFill>
                          <a:schemeClr val="tx1"/>
                        </a:solidFill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177796" marR="177796" marT="76198" marB="761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>
            <a:extLst>
              <a:ext uri="{FF2B5EF4-FFF2-40B4-BE49-F238E27FC236}">
                <a16:creationId xmlns:a16="http://schemas.microsoft.com/office/drawing/2014/main" id="{8425B239-1AA1-E00A-52E5-AF275BB0A772}"/>
              </a:ext>
            </a:extLst>
          </p:cNvPr>
          <p:cNvSpPr/>
          <p:nvPr/>
        </p:nvSpPr>
        <p:spPr>
          <a:xfrm>
            <a:off x="711182" y="2133188"/>
            <a:ext cx="10769331" cy="19050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D4B8AA3-02B6-045D-2041-F0F134B6B3F0}"/>
              </a:ext>
            </a:extLst>
          </p:cNvPr>
          <p:cNvSpPr/>
          <p:nvPr/>
        </p:nvSpPr>
        <p:spPr>
          <a:xfrm>
            <a:off x="711182" y="2750313"/>
            <a:ext cx="10769331" cy="19050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959E242-EBBB-E5D7-F9A4-1FA547C19180}"/>
              </a:ext>
            </a:extLst>
          </p:cNvPr>
          <p:cNvSpPr/>
          <p:nvPr/>
        </p:nvSpPr>
        <p:spPr>
          <a:xfrm>
            <a:off x="711182" y="3383313"/>
            <a:ext cx="10769331" cy="19050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6B54EF0-5876-3719-0F8C-19CAE5160105}"/>
              </a:ext>
            </a:extLst>
          </p:cNvPr>
          <p:cNvSpPr/>
          <p:nvPr/>
        </p:nvSpPr>
        <p:spPr>
          <a:xfrm>
            <a:off x="711182" y="4016313"/>
            <a:ext cx="10769331" cy="19050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F5DED10-A9EA-5C5B-5E47-9A6799798BDA}"/>
              </a:ext>
            </a:extLst>
          </p:cNvPr>
          <p:cNvSpPr/>
          <p:nvPr/>
        </p:nvSpPr>
        <p:spPr>
          <a:xfrm>
            <a:off x="711182" y="4649313"/>
            <a:ext cx="10769331" cy="19050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D5D83E9-BBBF-B2E0-1B39-5FBDA5BA6070}"/>
              </a:ext>
            </a:extLst>
          </p:cNvPr>
          <p:cNvSpPr/>
          <p:nvPr/>
        </p:nvSpPr>
        <p:spPr>
          <a:xfrm>
            <a:off x="711182" y="5564981"/>
            <a:ext cx="10769331" cy="67945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0" spc="36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Half-life is configurable; the values above are the current settings</a:t>
            </a:r>
            <a:endParaRPr lang="en-US" sz="18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F02C816-61D6-9478-6315-92734E3190DD}"/>
              </a:ext>
            </a:extLst>
          </p:cNvPr>
          <p:cNvSpPr/>
          <p:nvPr/>
        </p:nvSpPr>
        <p:spPr>
          <a:xfrm>
            <a:off x="5764150" y="1503455"/>
            <a:ext cx="45719" cy="3762984"/>
          </a:xfrm>
          <a:prstGeom prst="rect">
            <a:avLst/>
          </a:prstGeom>
          <a:solidFill>
            <a:srgbClr val="12192B"/>
          </a:solidFill>
          <a:ln/>
        </p:spPr>
      </p:sp>
    </p:spTree>
    <p:extLst>
      <p:ext uri="{BB962C8B-B14F-4D97-AF65-F5344CB8AC3E}">
        <p14:creationId xmlns:p14="http://schemas.microsoft.com/office/powerpoint/2010/main" val="270023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50F3C2-A8AA-4A02-5E1C-921D76BF96C5}"/>
              </a:ext>
            </a:extLst>
          </p:cNvPr>
          <p:cNvSpPr/>
          <p:nvPr/>
        </p:nvSpPr>
        <p:spPr>
          <a:xfrm>
            <a:off x="0" y="0"/>
            <a:ext cx="6258463" cy="6858000"/>
          </a:xfrm>
          <a:custGeom>
            <a:avLst/>
            <a:gdLst/>
            <a:ahLst/>
            <a:cxnLst/>
            <a:rect l="l" t="t" r="r" b="b"/>
            <a:pathLst>
              <a:path w="6258463" h="6858000">
                <a:moveTo>
                  <a:pt x="41278" y="0"/>
                </a:moveTo>
                <a:lnTo>
                  <a:pt x="6258463" y="0"/>
                </a:lnTo>
                <a:lnTo>
                  <a:pt x="6258463" y="6858000"/>
                </a:lnTo>
                <a:lnTo>
                  <a:pt x="41278" y="6858000"/>
                </a:lnTo>
                <a:arcTo wR="41278" hR="41279" stAng="5400000" swAng="5400000"/>
                <a:lnTo>
                  <a:pt x="0" y="41279"/>
                </a:lnTo>
                <a:arcTo wR="41278" hR="41279" stAng="10800000" swAng="5400000"/>
                <a:close/>
              </a:path>
            </a:pathLst>
          </a:custGeom>
          <a:solidFill>
            <a:srgbClr val="FFFFFF"/>
          </a:solidFill>
          <a:ln w="6350">
            <a:solidFill>
              <a:srgbClr val="B4C4D3"/>
            </a:solidFill>
            <a:prstDash val="solid"/>
          </a:ln>
        </p:spPr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93E8473-2F0E-7512-D76C-4741BD3D8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716" y="1630917"/>
            <a:ext cx="5723578" cy="4576844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8C61F223-D795-E917-777F-415BED680D11}"/>
              </a:ext>
            </a:extLst>
          </p:cNvPr>
          <p:cNvSpPr/>
          <p:nvPr/>
        </p:nvSpPr>
        <p:spPr>
          <a:xfrm>
            <a:off x="7426735" y="1178123"/>
            <a:ext cx="4053778" cy="274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simulation produces a smooth exponential decay curve of N(t) against time. The population falls to half its value with every elapsed half-life, consistent with the theoretical model.</a:t>
            </a:r>
            <a:endParaRPr lang="en-US" sz="2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6BE902F-D6C6-D480-368C-AA0F71A98984}"/>
              </a:ext>
            </a:extLst>
          </p:cNvPr>
          <p:cNvSpPr/>
          <p:nvPr/>
        </p:nvSpPr>
        <p:spPr>
          <a:xfrm>
            <a:off x="7426735" y="4044206"/>
            <a:ext cx="4053778" cy="1171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plot is saved locally as a static image, </a:t>
            </a:r>
            <a:r>
              <a:rPr lang="en-US" sz="2400" i="1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decay_curve.png</a:t>
            </a:r>
            <a:r>
              <a:rPr lang="en-US" sz="24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for inspection and reporting.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4207B-FD3E-949A-3782-96B3FEE44B63}"/>
              </a:ext>
            </a:extLst>
          </p:cNvPr>
          <p:cNvSpPr txBox="1"/>
          <p:nvPr/>
        </p:nvSpPr>
        <p:spPr>
          <a:xfrm>
            <a:off x="7342094" y="394447"/>
            <a:ext cx="413841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u="sng" kern="0" spc="-66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Results and Visualization</a:t>
            </a: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2468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AC7803-7B2F-9B6F-9A1B-EE649303ACC9}"/>
              </a:ext>
            </a:extLst>
          </p:cNvPr>
          <p:cNvSpPr/>
          <p:nvPr/>
        </p:nvSpPr>
        <p:spPr>
          <a:xfrm>
            <a:off x="711182" y="711200"/>
            <a:ext cx="10769331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Future Scope</a:t>
            </a:r>
            <a:endParaRPr lang="en-US" sz="3600" u="sng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BA9769-7EEC-F611-FB44-8904D712CA2C}"/>
              </a:ext>
            </a:extLst>
          </p:cNvPr>
          <p:cNvSpPr/>
          <p:nvPr/>
        </p:nvSpPr>
        <p:spPr>
          <a:xfrm>
            <a:off x="711182" y="1503363"/>
            <a:ext cx="38099" cy="2036762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CBCF9F-11A5-1AC2-CA73-DC7CF3A8224E}"/>
              </a:ext>
            </a:extLst>
          </p:cNvPr>
          <p:cNvSpPr/>
          <p:nvPr/>
        </p:nvSpPr>
        <p:spPr>
          <a:xfrm>
            <a:off x="952476" y="1630363"/>
            <a:ext cx="4787780" cy="17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Extend the model to multi-isotope decay chains with sequential parent–daughter transformations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C08223-2D38-B9EC-DC6D-AC2CD466CFCE}"/>
              </a:ext>
            </a:extLst>
          </p:cNvPr>
          <p:cNvSpPr/>
          <p:nvPr/>
        </p:nvSpPr>
        <p:spPr>
          <a:xfrm>
            <a:off x="6248244" y="1503363"/>
            <a:ext cx="38099" cy="2036762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1BF971-651B-7D6C-29CB-E1BE9C72A7A6}"/>
              </a:ext>
            </a:extLst>
          </p:cNvPr>
          <p:cNvSpPr/>
          <p:nvPr/>
        </p:nvSpPr>
        <p:spPr>
          <a:xfrm>
            <a:off x="6489538" y="1630363"/>
            <a:ext cx="4787780" cy="1782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Implement the coupled differential equations governing chain propagation between isotopes</a:t>
            </a:r>
            <a:endParaRPr lang="en-US" sz="2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2DF26B9-1A95-A385-40CB-3A75C7D0E0AD}"/>
              </a:ext>
            </a:extLst>
          </p:cNvPr>
          <p:cNvSpPr/>
          <p:nvPr/>
        </p:nvSpPr>
        <p:spPr>
          <a:xfrm>
            <a:off x="711182" y="3844925"/>
            <a:ext cx="38099" cy="1591072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B93BB6-E519-403E-06E4-DE7CF9708C25}"/>
              </a:ext>
            </a:extLst>
          </p:cNvPr>
          <p:cNvSpPr/>
          <p:nvPr/>
        </p:nvSpPr>
        <p:spPr>
          <a:xfrm>
            <a:off x="952476" y="3971925"/>
            <a:ext cx="4787780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 interactive or animated visualization of population evolution across the chain</a:t>
            </a:r>
            <a:endParaRPr lang="en-US" sz="2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615880-8A83-A9D4-A000-D37AE1E33663}"/>
              </a:ext>
            </a:extLst>
          </p:cNvPr>
          <p:cNvSpPr/>
          <p:nvPr/>
        </p:nvSpPr>
        <p:spPr>
          <a:xfrm>
            <a:off x="6248244" y="3844925"/>
            <a:ext cx="38099" cy="1591072"/>
          </a:xfrm>
          <a:prstGeom prst="rect">
            <a:avLst/>
          </a:prstGeom>
          <a:solidFill>
            <a:srgbClr val="12192B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844B5B9-EEA1-EC10-417C-A8D7C25A0F24}"/>
              </a:ext>
            </a:extLst>
          </p:cNvPr>
          <p:cNvSpPr/>
          <p:nvPr/>
        </p:nvSpPr>
        <p:spPr>
          <a:xfrm>
            <a:off x="6489538" y="3971925"/>
            <a:ext cx="4787780" cy="1337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Support comparison of multiple decay pathways and configurable branching ratios</a:t>
            </a:r>
            <a:endParaRPr lang="en-US" sz="2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BC75D61-812B-5E3B-8904-B724D03FE0FB}"/>
              </a:ext>
            </a:extLst>
          </p:cNvPr>
          <p:cNvSpPr/>
          <p:nvPr/>
        </p:nvSpPr>
        <p:spPr>
          <a:xfrm>
            <a:off x="711182" y="5734447"/>
            <a:ext cx="11378915" cy="425450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Planned work · none of the above is implemented yet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8323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1953D-E17D-18C9-15E9-78FC663E0FC3}"/>
              </a:ext>
            </a:extLst>
          </p:cNvPr>
          <p:cNvSpPr/>
          <p:nvPr/>
        </p:nvSpPr>
        <p:spPr>
          <a:xfrm>
            <a:off x="711182" y="1382117"/>
            <a:ext cx="5618419" cy="493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u="sng" kern="0" spc="-72" dirty="0"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Conclusion</a:t>
            </a:r>
            <a:endParaRPr lang="en-US" sz="3600" u="sng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4286E4-54B2-2237-6585-6810E4AEF781}"/>
              </a:ext>
            </a:extLst>
          </p:cNvPr>
          <p:cNvSpPr/>
          <p:nvPr/>
        </p:nvSpPr>
        <p:spPr>
          <a:xfrm>
            <a:off x="711182" y="2206030"/>
            <a:ext cx="5618419" cy="2228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600" dirty="0"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working single-isotope decay simulation was implemented and visualized, establishing a computational foundation for extension to multi-isotope decay chains.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CA5C35-C4C8-D75C-72C8-D308B74954BA}"/>
              </a:ext>
            </a:extLst>
          </p:cNvPr>
          <p:cNvSpPr/>
          <p:nvPr/>
        </p:nvSpPr>
        <p:spPr>
          <a:xfrm>
            <a:off x="711182" y="4732933"/>
            <a:ext cx="5618419" cy="74295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kern="0" spc="40" dirty="0"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PBL-3 MTE · Python · NumPy · Matplotlib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FEB4B9-BE22-6765-7859-4F76F4B61DD1}"/>
              </a:ext>
            </a:extLst>
          </p:cNvPr>
          <p:cNvSpPr/>
          <p:nvPr/>
        </p:nvSpPr>
        <p:spPr>
          <a:xfrm>
            <a:off x="7497873" y="0"/>
            <a:ext cx="4693822" cy="6858000"/>
          </a:xfrm>
          <a:custGeom>
            <a:avLst/>
            <a:gdLst/>
            <a:ahLst/>
            <a:cxnLst/>
            <a:rect l="l" t="t" r="r" b="b"/>
            <a:pathLst>
              <a:path w="4693822" h="6858000">
                <a:moveTo>
                  <a:pt x="0" y="0"/>
                </a:moveTo>
                <a:lnTo>
                  <a:pt x="4652544" y="0"/>
                </a:lnTo>
                <a:arcTo wR="41278" hR="41279" stAng="16200000" swAng="5400000"/>
                <a:lnTo>
                  <a:pt x="4693822" y="6816721"/>
                </a:lnTo>
                <a:arcTo wR="41278" hR="41279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B4C4D3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C28503-8A05-4924-FD82-68C2D45CA567}"/>
              </a:ext>
            </a:extLst>
          </p:cNvPr>
          <p:cNvSpPr/>
          <p:nvPr/>
        </p:nvSpPr>
        <p:spPr>
          <a:xfrm>
            <a:off x="7809015" y="1519833"/>
            <a:ext cx="438268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u="sng" kern="0" spc="40" dirty="0">
                <a:solidFill>
                  <a:srgbClr val="12192B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REFERENCES</a:t>
            </a:r>
            <a:endParaRPr lang="en-US" sz="2000" u="sng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9857C6-979B-7F5C-EC27-7A66074BF596}"/>
              </a:ext>
            </a:extLst>
          </p:cNvPr>
          <p:cNvSpPr/>
          <p:nvPr/>
        </p:nvSpPr>
        <p:spPr>
          <a:xfrm>
            <a:off x="7809015" y="2135783"/>
            <a:ext cx="4071538" cy="3202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528320" indent="-528320" algn="l">
              <a:lnSpc>
                <a:spcPct val="112000"/>
              </a:lnSpc>
              <a:buSzPct val="100000"/>
              <a:buChar char="•"/>
            </a:pPr>
            <a:r>
              <a:rPr lang="en-US" sz="26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Foundational nuclear physics and radioactive decay theory (standard undergraduate physics texts)</a:t>
            </a:r>
            <a:endParaRPr lang="en-US" sz="2600" dirty="0"/>
          </a:p>
          <a:p>
            <a:pPr marL="528320" indent="-528320" algn="l">
              <a:lnSpc>
                <a:spcPct val="112000"/>
              </a:lnSpc>
              <a:buSzPct val="100000"/>
              <a:buChar char="•"/>
            </a:pPr>
            <a:r>
              <a:rPr lang="en-US" sz="26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NumPy and Matplotlib official documentation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7560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519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Atkinson Hyperlegible Next ExtraBold</vt:lpstr>
      <vt:lpstr>Atkinson Hyperlegible Next SemiBold</vt:lpstr>
      <vt:lpstr>Martian Mono Medium</vt:lpstr>
      <vt:lpstr>Sora ExtraBold</vt:lpstr>
      <vt:lpstr>Arial</vt:lpstr>
      <vt:lpstr>Atkinson Hyperlegible Next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 Bhardwaj</dc:creator>
  <cp:lastModifiedBy>Rishi Bhardwaj</cp:lastModifiedBy>
  <cp:revision>14</cp:revision>
  <dcterms:created xsi:type="dcterms:W3CDTF">2026-09-16T01:58:43Z</dcterms:created>
  <dcterms:modified xsi:type="dcterms:W3CDTF">2026-09-16T02:24:24Z</dcterms:modified>
</cp:coreProperties>
</file>